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F38"/>
        </a:solidFill>
        <a:effectLst/>
      </p:bgPr>
    </p:bg>
    <p:spTree>
      <p:nvGrpSpPr>
        <p:cNvPr id="1" name=""/>
        <p:cNvGrpSpPr/>
        <p:nvPr/>
      </p:nvGrpSpPr>
      <p:grpSpPr/>
      <p:sp>
        <p:nvSpPr>
          <p:cNvPr id="2" name="Oval 1"/>
          <p:cNvSpPr/>
          <p:nvPr/>
        </p:nvSpPr>
        <p:spPr>
          <a:xfrm>
            <a:off x="8503920" y="731520"/>
            <a:ext cx="1828800" cy="1828800"/>
          </a:xfrm>
          <a:prstGeom prst="ellipse">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442448" y="1645920"/>
            <a:ext cx="329184" cy="0"/>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246856" y="2247887"/>
            <a:ext cx="266316" cy="193489"/>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734792" y="2619923"/>
            <a:ext cx="101724" cy="313073"/>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9000123" y="2619923"/>
            <a:ext cx="101724" cy="313073"/>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8323467" y="2247887"/>
            <a:ext cx="266316" cy="193489"/>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8065008" y="1645920"/>
            <a:ext cx="329184" cy="0"/>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8323467" y="850463"/>
            <a:ext cx="266316" cy="193489"/>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9000123" y="358843"/>
            <a:ext cx="101724" cy="313073"/>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734792" y="358843"/>
            <a:ext cx="101724" cy="313073"/>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0246856" y="850463"/>
            <a:ext cx="266316" cy="193489"/>
          </a:xfrm>
          <a:prstGeom prst="line">
            <a:avLst/>
          </a:prstGeom>
          <a:ln w="38100">
            <a:solidFill>
              <a:srgbClr val="FFC54A"/>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0" y="5074920"/>
            <a:ext cx="12191695" cy="1783080"/>
          </a:xfrm>
          <a:prstGeom prst="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6583680" y="2560320"/>
            <a:ext cx="0" cy="237744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0" y="2560320"/>
            <a:ext cx="658368"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254496" y="2560320"/>
            <a:ext cx="329184" cy="570163"/>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6254496" y="1990156"/>
            <a:ext cx="329184" cy="570164"/>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46720" y="3043123"/>
            <a:ext cx="0" cy="1711757"/>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46720" y="3043123"/>
            <a:ext cx="474024"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809707" y="3043123"/>
            <a:ext cx="237013" cy="410517"/>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7809707" y="2632605"/>
            <a:ext cx="237013" cy="41051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149840" y="3079699"/>
            <a:ext cx="0" cy="1949501"/>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149840" y="3079699"/>
            <a:ext cx="539861"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879909" y="3079699"/>
            <a:ext cx="269931" cy="467534"/>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9879909" y="2612165"/>
            <a:ext cx="269931" cy="467534"/>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1325880"/>
            <a:ext cx="6858000" cy="1737360"/>
          </a:xfrm>
          <a:prstGeom prst="rect">
            <a:avLst/>
          </a:prstGeom>
          <a:noFill/>
        </p:spPr>
        <p:txBody>
          <a:bodyPr wrap="square" lIns="73152" rIns="73152" tIns="73152" bIns="73152" anchor="t">
            <a:spAutoFit/>
          </a:bodyPr>
          <a:lstStyle/>
          <a:p>
            <a:pPr algn="l">
              <a:spcAft>
                <a:spcPts val="400"/>
              </a:spcAft>
            </a:pPr>
            <a:r>
              <a:rPr sz="3700" b="1">
                <a:solidFill>
                  <a:srgbClr val="FFFFFF"/>
                </a:solidFill>
                <a:latin typeface="Aptos"/>
              </a:rPr>
              <a:t>NĂNG LƯỢNG
TÁI TẠO</a:t>
            </a:r>
          </a:p>
        </p:txBody>
      </p:sp>
      <p:sp>
        <p:nvSpPr>
          <p:cNvPr id="27" name="TextBox 26"/>
          <p:cNvSpPr txBox="1"/>
          <p:nvPr/>
        </p:nvSpPr>
        <p:spPr>
          <a:xfrm>
            <a:off x="777240" y="3246120"/>
            <a:ext cx="6126480" cy="594360"/>
          </a:xfrm>
          <a:prstGeom prst="rect">
            <a:avLst/>
          </a:prstGeom>
          <a:noFill/>
        </p:spPr>
        <p:txBody>
          <a:bodyPr wrap="square" lIns="73152" rIns="73152" tIns="73152" bIns="73152" anchor="t">
            <a:spAutoFit/>
          </a:bodyPr>
          <a:lstStyle/>
          <a:p>
            <a:pPr algn="l">
              <a:spcAft>
                <a:spcPts val="400"/>
              </a:spcAft>
            </a:pPr>
            <a:r>
              <a:rPr sz="1900" b="0">
                <a:solidFill>
                  <a:srgbClr val="BEE0E2"/>
                </a:solidFill>
                <a:latin typeface="Aptos"/>
              </a:rPr>
              <a:t>Nguồn năng lượng sạch cho tương lai bền vững</a:t>
            </a:r>
          </a:p>
        </p:txBody>
      </p:sp>
      <p:sp>
        <p:nvSpPr>
          <p:cNvPr id="28" name="Rounded Rectangle 27"/>
          <p:cNvSpPr/>
          <p:nvPr/>
        </p:nvSpPr>
        <p:spPr>
          <a:xfrm>
            <a:off x="786384" y="4096512"/>
            <a:ext cx="2057400" cy="438912"/>
          </a:xfrm>
          <a:prstGeom prst="round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160520"/>
            <a:ext cx="1828800" cy="256032"/>
          </a:xfrm>
          <a:prstGeom prst="rect">
            <a:avLst/>
          </a:prstGeom>
          <a:noFill/>
        </p:spPr>
        <p:txBody>
          <a:bodyPr wrap="square" lIns="73152" rIns="73152" tIns="73152" bIns="73152" anchor="t">
            <a:spAutoFit/>
          </a:bodyPr>
          <a:lstStyle/>
          <a:p>
            <a:pPr algn="ctr">
              <a:spcAft>
                <a:spcPts val="400"/>
              </a:spcAft>
            </a:pPr>
            <a:r>
              <a:rPr sz="1200" b="1">
                <a:solidFill>
                  <a:srgbClr val="0C1F38"/>
                </a:solidFill>
                <a:latin typeface="Aptos"/>
              </a:rPr>
              <a:t>BÀI THUYẾT TRÌNH</a:t>
            </a:r>
          </a:p>
        </p:txBody>
      </p:sp>
      <p:sp>
        <p:nvSpPr>
          <p:cNvPr id="30" name="TextBox 29"/>
          <p:cNvSpPr txBox="1"/>
          <p:nvPr/>
        </p:nvSpPr>
        <p:spPr>
          <a:xfrm>
            <a:off x="777240" y="6172200"/>
            <a:ext cx="6583680" cy="320040"/>
          </a:xfrm>
          <a:prstGeom prst="rect">
            <a:avLst/>
          </a:prstGeom>
          <a:noFill/>
        </p:spPr>
        <p:txBody>
          <a:bodyPr wrap="square" lIns="73152" rIns="73152" tIns="73152" bIns="73152" anchor="t">
            <a:spAutoFit/>
          </a:bodyPr>
          <a:lstStyle/>
          <a:p>
            <a:pPr algn="l">
              <a:spcAft>
                <a:spcPts val="400"/>
              </a:spcAft>
            </a:pPr>
            <a:r>
              <a:rPr sz="1200" b="0">
                <a:solidFill>
                  <a:srgbClr val="FFFFFF"/>
                </a:solidFill>
                <a:latin typeface="Aptos"/>
              </a:rPr>
              <a:t>Họ và tên: ………………………     Lớp: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1. Năng lượng tái tạo là gì?</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Khái niệm cơ bản</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02</a:t>
            </a:r>
          </a:p>
        </p:txBody>
      </p:sp>
      <p:sp>
        <p:nvSpPr>
          <p:cNvPr id="6" name="TextBox 5"/>
          <p:cNvSpPr txBox="1"/>
          <p:nvPr/>
        </p:nvSpPr>
        <p:spPr>
          <a:xfrm>
            <a:off x="777240" y="1828800"/>
            <a:ext cx="6492240" cy="1143000"/>
          </a:xfrm>
          <a:prstGeom prst="rect">
            <a:avLst/>
          </a:prstGeom>
          <a:noFill/>
        </p:spPr>
        <p:txBody>
          <a:bodyPr wrap="square" lIns="73152" rIns="73152" tIns="73152" bIns="73152" anchor="t">
            <a:spAutoFit/>
          </a:bodyPr>
          <a:lstStyle/>
          <a:p>
            <a:pPr algn="l">
              <a:spcAft>
                <a:spcPts val="400"/>
              </a:spcAft>
            </a:pPr>
            <a:r>
              <a:rPr sz="2400" b="1">
                <a:solidFill>
                  <a:srgbClr val="0C1F38"/>
                </a:solidFill>
                <a:latin typeface="Aptos"/>
              </a:rPr>
              <a:t>Năng lượng tái tạo là năng lượng được bổ sung tự nhiên liên tục hoặc trong thời gian tương đối ngắn.</a:t>
            </a:r>
          </a:p>
        </p:txBody>
      </p:sp>
      <p:sp>
        <p:nvSpPr>
          <p:cNvPr id="7" name="Oval 6"/>
          <p:cNvSpPr/>
          <p:nvPr/>
        </p:nvSpPr>
        <p:spPr>
          <a:xfrm>
            <a:off x="822960" y="33192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200400"/>
            <a:ext cx="6446520" cy="530352"/>
          </a:xfrm>
          <a:prstGeom prst="rect">
            <a:avLst/>
          </a:prstGeom>
          <a:noFill/>
        </p:spPr>
        <p:txBody>
          <a:bodyPr wrap="square" lIns="73152" rIns="73152" tIns="73152" bIns="73152" anchor="t">
            <a:spAutoFit/>
          </a:bodyPr>
          <a:lstStyle/>
          <a:p>
            <a:pPr algn="l">
              <a:spcAft>
                <a:spcPts val="400"/>
              </a:spcAft>
            </a:pPr>
            <a:r>
              <a:rPr sz="1700" b="0">
                <a:solidFill>
                  <a:srgbClr val="1F303E"/>
                </a:solidFill>
                <a:latin typeface="Aptos"/>
              </a:rPr>
              <a:t>Đến từ các nguồn tự nhiên như ánh nắng, gió, nước và nhiệt trong lòng đất.</a:t>
            </a:r>
          </a:p>
        </p:txBody>
      </p:sp>
      <p:sp>
        <p:nvSpPr>
          <p:cNvPr id="9" name="Oval 8"/>
          <p:cNvSpPr/>
          <p:nvPr/>
        </p:nvSpPr>
        <p:spPr>
          <a:xfrm>
            <a:off x="822960" y="4096511"/>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977639"/>
            <a:ext cx="6446520" cy="530352"/>
          </a:xfrm>
          <a:prstGeom prst="rect">
            <a:avLst/>
          </a:prstGeom>
          <a:noFill/>
        </p:spPr>
        <p:txBody>
          <a:bodyPr wrap="square" lIns="73152" rIns="73152" tIns="73152" bIns="73152" anchor="t">
            <a:spAutoFit/>
          </a:bodyPr>
          <a:lstStyle/>
          <a:p>
            <a:pPr algn="l">
              <a:spcAft>
                <a:spcPts val="400"/>
              </a:spcAft>
            </a:pPr>
            <a:r>
              <a:rPr sz="1700" b="0">
                <a:solidFill>
                  <a:srgbClr val="1F303E"/>
                </a:solidFill>
                <a:latin typeface="Aptos"/>
              </a:rPr>
              <a:t>Có thể thay thế một phần nhiên liệu hóa thạch như than, dầu và khí đốt.</a:t>
            </a:r>
          </a:p>
        </p:txBody>
      </p:sp>
      <p:sp>
        <p:nvSpPr>
          <p:cNvPr id="11" name="Oval 10"/>
          <p:cNvSpPr/>
          <p:nvPr/>
        </p:nvSpPr>
        <p:spPr>
          <a:xfrm>
            <a:off x="822960" y="487375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754880"/>
            <a:ext cx="6446520" cy="530352"/>
          </a:xfrm>
          <a:prstGeom prst="rect">
            <a:avLst/>
          </a:prstGeom>
          <a:noFill/>
        </p:spPr>
        <p:txBody>
          <a:bodyPr wrap="square" lIns="73152" rIns="73152" tIns="73152" bIns="73152" anchor="t">
            <a:spAutoFit/>
          </a:bodyPr>
          <a:lstStyle/>
          <a:p>
            <a:pPr algn="l">
              <a:spcAft>
                <a:spcPts val="400"/>
              </a:spcAft>
            </a:pPr>
            <a:r>
              <a:rPr sz="1700" b="0">
                <a:solidFill>
                  <a:srgbClr val="1F303E"/>
                </a:solidFill>
                <a:latin typeface="Aptos"/>
              </a:rPr>
              <a:t>Giúp đa dạng hóa nguồn cung năng lượng.</a:t>
            </a:r>
          </a:p>
        </p:txBody>
      </p:sp>
      <p:sp>
        <p:nvSpPr>
          <p:cNvPr id="13" name="Oval 12"/>
          <p:cNvSpPr/>
          <p:nvPr/>
        </p:nvSpPr>
        <p:spPr>
          <a:xfrm>
            <a:off x="8321040" y="1965960"/>
            <a:ext cx="2057400" cy="2057400"/>
          </a:xfrm>
          <a:prstGeom prst="ellipse">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2651760"/>
            <a:ext cx="1051560" cy="411480"/>
          </a:xfrm>
          <a:prstGeom prst="rect">
            <a:avLst/>
          </a:prstGeom>
          <a:noFill/>
        </p:spPr>
        <p:txBody>
          <a:bodyPr wrap="square" lIns="73152" rIns="73152" tIns="73152" bIns="73152" anchor="t">
            <a:spAutoFit/>
          </a:bodyPr>
          <a:lstStyle/>
          <a:p>
            <a:pPr algn="ctr">
              <a:spcAft>
                <a:spcPts val="400"/>
              </a:spcAft>
            </a:pPr>
            <a:r>
              <a:rPr sz="2200" b="1">
                <a:solidFill>
                  <a:srgbClr val="0C1F38"/>
                </a:solidFill>
                <a:latin typeface="Aptos"/>
              </a:rPr>
              <a:t>SUN</a:t>
            </a:r>
          </a:p>
        </p:txBody>
      </p:sp>
      <p:cxnSp>
        <p:nvCxnSpPr>
          <p:cNvPr id="15" name="Connector 14"/>
          <p:cNvCxnSpPr/>
          <p:nvPr/>
        </p:nvCxnSpPr>
        <p:spPr>
          <a:xfrm>
            <a:off x="7498079" y="4937760"/>
            <a:ext cx="3291841" cy="0"/>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60920" y="5257800"/>
            <a:ext cx="3931920" cy="502920"/>
          </a:xfrm>
          <a:prstGeom prst="rect">
            <a:avLst/>
          </a:prstGeom>
          <a:noFill/>
        </p:spPr>
        <p:txBody>
          <a:bodyPr wrap="square" lIns="73152" rIns="73152" tIns="73152" bIns="73152" anchor="t">
            <a:spAutoFit/>
          </a:bodyPr>
          <a:lstStyle/>
          <a:p>
            <a:pPr algn="ctr">
              <a:spcAft>
                <a:spcPts val="400"/>
              </a:spcAft>
            </a:pPr>
            <a:r>
              <a:rPr sz="1500" b="1">
                <a:solidFill>
                  <a:srgbClr val="185782"/>
                </a:solidFill>
                <a:latin typeface="Aptos"/>
              </a:rPr>
              <a:t>Nắng  •  Gió  •  Nước  •  Địa nhiệt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F38"/>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2. Các loại năng lượng tái tạo</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Bốn nguồn phổ biến</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03</a:t>
            </a:r>
          </a:p>
        </p:txBody>
      </p:sp>
      <p:sp>
        <p:nvSpPr>
          <p:cNvPr id="6" name="Rounded Rectangle 5"/>
          <p:cNvSpPr/>
          <p:nvPr/>
        </p:nvSpPr>
        <p:spPr>
          <a:xfrm>
            <a:off x="731520" y="1874519"/>
            <a:ext cx="52120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74519"/>
            <a:ext cx="82296" cy="1508760"/>
          </a:xfrm>
          <a:prstGeom prst="rect">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020824"/>
            <a:ext cx="484632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 Năng lượng mặt trời</a:t>
            </a:r>
          </a:p>
        </p:txBody>
      </p:sp>
      <p:sp>
        <p:nvSpPr>
          <p:cNvPr id="9" name="TextBox 8"/>
          <p:cNvSpPr txBox="1"/>
          <p:nvPr/>
        </p:nvSpPr>
        <p:spPr>
          <a:xfrm>
            <a:off x="932688" y="2487168"/>
            <a:ext cx="4846320" cy="795527"/>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Tấm pin chuyển ánh sáng thành điện; máy nước nóng mặt trời tận dụng nhiệt.</a:t>
            </a:r>
          </a:p>
        </p:txBody>
      </p:sp>
      <p:sp>
        <p:nvSpPr>
          <p:cNvPr id="10" name="Rounded Rectangle 9"/>
          <p:cNvSpPr/>
          <p:nvPr/>
        </p:nvSpPr>
        <p:spPr>
          <a:xfrm>
            <a:off x="6263640" y="1874519"/>
            <a:ext cx="52120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874519"/>
            <a:ext cx="82296" cy="1508760"/>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2020824"/>
            <a:ext cx="484632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 Năng lượng gió</a:t>
            </a:r>
          </a:p>
        </p:txBody>
      </p:sp>
      <p:sp>
        <p:nvSpPr>
          <p:cNvPr id="13" name="TextBox 12"/>
          <p:cNvSpPr txBox="1"/>
          <p:nvPr/>
        </p:nvSpPr>
        <p:spPr>
          <a:xfrm>
            <a:off x="6464807" y="2487168"/>
            <a:ext cx="4846320" cy="795527"/>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Tua-bin gió biến chuyển động của gió thành điện năng.</a:t>
            </a:r>
          </a:p>
        </p:txBody>
      </p:sp>
      <p:sp>
        <p:nvSpPr>
          <p:cNvPr id="14" name="Rounded Rectangle 13"/>
          <p:cNvSpPr/>
          <p:nvPr/>
        </p:nvSpPr>
        <p:spPr>
          <a:xfrm>
            <a:off x="731520" y="3703320"/>
            <a:ext cx="52120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03320"/>
            <a:ext cx="82296" cy="1508760"/>
          </a:xfrm>
          <a:prstGeom prst="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849624"/>
            <a:ext cx="484632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 Thủy điện</a:t>
            </a:r>
          </a:p>
        </p:txBody>
      </p:sp>
      <p:sp>
        <p:nvSpPr>
          <p:cNvPr id="17" name="TextBox 16"/>
          <p:cNvSpPr txBox="1"/>
          <p:nvPr/>
        </p:nvSpPr>
        <p:spPr>
          <a:xfrm>
            <a:off x="932688" y="4315968"/>
            <a:ext cx="4846320" cy="795527"/>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Dòng nước làm quay tua-bin để phát điện; cần quản lý tác động đến hệ sinh thái.</a:t>
            </a:r>
          </a:p>
        </p:txBody>
      </p:sp>
      <p:sp>
        <p:nvSpPr>
          <p:cNvPr id="18" name="Rounded Rectangle 17"/>
          <p:cNvSpPr/>
          <p:nvPr/>
        </p:nvSpPr>
        <p:spPr>
          <a:xfrm>
            <a:off x="6263640" y="3703320"/>
            <a:ext cx="521208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703320"/>
            <a:ext cx="82296" cy="1508760"/>
          </a:xfrm>
          <a:prstGeom prst="rect">
            <a:avLst/>
          </a:prstGeom>
          <a:solidFill>
            <a:srgbClr val="66B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7" y="3849624"/>
            <a:ext cx="484632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 Sinh khối &amp; địa nhiệt</a:t>
            </a:r>
          </a:p>
        </p:txBody>
      </p:sp>
      <p:sp>
        <p:nvSpPr>
          <p:cNvPr id="21" name="TextBox 20"/>
          <p:cNvSpPr txBox="1"/>
          <p:nvPr/>
        </p:nvSpPr>
        <p:spPr>
          <a:xfrm>
            <a:off x="6464807" y="4315968"/>
            <a:ext cx="4846320" cy="795527"/>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Sinh khối dùng vật liệu hữu cơ; địa nhiệt khai thác nhiệt từ lòng đất.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3. Năng lượng mặt trời</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Tận dụng ánh sáng và nhiệt từ Mặt Trời</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04</a:t>
            </a:r>
          </a:p>
        </p:txBody>
      </p:sp>
      <p:sp>
        <p:nvSpPr>
          <p:cNvPr id="6" name="Rounded Rectangle 5"/>
          <p:cNvSpPr/>
          <p:nvPr/>
        </p:nvSpPr>
        <p:spPr>
          <a:xfrm>
            <a:off x="777240" y="1828800"/>
            <a:ext cx="4754880" cy="3337560"/>
          </a:xfrm>
          <a:prstGeom prst="round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2240280"/>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75688" y="2240280"/>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08376" y="2240280"/>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1064" y="2240280"/>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2953512"/>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75688" y="2953512"/>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08376" y="2953512"/>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41064" y="2953512"/>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3000" y="3666744"/>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5688" y="3666744"/>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08376" y="3666744"/>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941064" y="3666744"/>
            <a:ext cx="804672" cy="566928"/>
          </a:xfrm>
          <a:prstGeom prst="rect">
            <a:avLst/>
          </a:prstGeom>
          <a:solidFill>
            <a:srgbClr val="2177AA"/>
          </a:solidFill>
          <a:ln w="15240">
            <a:solidFill>
              <a:srgbClr val="8BD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1005840" y="4709160"/>
            <a:ext cx="416052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080760" y="213055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011680"/>
            <a:ext cx="4800600" cy="530352"/>
          </a:xfrm>
          <a:prstGeom prst="rect">
            <a:avLst/>
          </a:prstGeom>
          <a:noFill/>
        </p:spPr>
        <p:txBody>
          <a:bodyPr wrap="square" lIns="73152" rIns="73152" tIns="73152" bIns="73152" anchor="t">
            <a:spAutoFit/>
          </a:bodyPr>
          <a:lstStyle/>
          <a:p>
            <a:pPr algn="l">
              <a:spcAft>
                <a:spcPts val="400"/>
              </a:spcAft>
            </a:pPr>
            <a:r>
              <a:rPr sz="1800" b="0">
                <a:solidFill>
                  <a:srgbClr val="1F303E"/>
                </a:solidFill>
                <a:latin typeface="Aptos"/>
              </a:rPr>
              <a:t>Ưu điểm: nguồn ánh sáng dồi dào, vận hành ít phát thải.</a:t>
            </a:r>
          </a:p>
        </p:txBody>
      </p:sp>
      <p:sp>
        <p:nvSpPr>
          <p:cNvPr id="22" name="Oval 21"/>
          <p:cNvSpPr/>
          <p:nvPr/>
        </p:nvSpPr>
        <p:spPr>
          <a:xfrm>
            <a:off x="6080760" y="318211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063240"/>
            <a:ext cx="4800600" cy="530352"/>
          </a:xfrm>
          <a:prstGeom prst="rect">
            <a:avLst/>
          </a:prstGeom>
          <a:noFill/>
        </p:spPr>
        <p:txBody>
          <a:bodyPr wrap="square" lIns="73152" rIns="73152" tIns="73152" bIns="73152" anchor="t">
            <a:spAutoFit/>
          </a:bodyPr>
          <a:lstStyle/>
          <a:p>
            <a:pPr algn="l">
              <a:spcAft>
                <a:spcPts val="400"/>
              </a:spcAft>
            </a:pPr>
            <a:r>
              <a:rPr sz="1800" b="0">
                <a:solidFill>
                  <a:srgbClr val="1F303E"/>
                </a:solidFill>
                <a:latin typeface="Aptos"/>
              </a:rPr>
              <a:t>Ứng dụng: điện mái nhà, đèn đường, máy nước nóng.</a:t>
            </a:r>
          </a:p>
        </p:txBody>
      </p:sp>
      <p:sp>
        <p:nvSpPr>
          <p:cNvPr id="24" name="Oval 23"/>
          <p:cNvSpPr/>
          <p:nvPr/>
        </p:nvSpPr>
        <p:spPr>
          <a:xfrm>
            <a:off x="6080760" y="42336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4114800"/>
            <a:ext cx="4800600" cy="530352"/>
          </a:xfrm>
          <a:prstGeom prst="rect">
            <a:avLst/>
          </a:prstGeom>
          <a:noFill/>
        </p:spPr>
        <p:txBody>
          <a:bodyPr wrap="square" lIns="73152" rIns="73152" tIns="73152" bIns="73152" anchor="t">
            <a:spAutoFit/>
          </a:bodyPr>
          <a:lstStyle/>
          <a:p>
            <a:pPr algn="l">
              <a:spcAft>
                <a:spcPts val="400"/>
              </a:spcAft>
            </a:pPr>
            <a:r>
              <a:rPr sz="1800" b="0">
                <a:solidFill>
                  <a:srgbClr val="1F303E"/>
                </a:solidFill>
                <a:latin typeface="Aptos"/>
              </a:rPr>
              <a:t>Hạn chế: phụ thuộc thời tiết và thời gian có nắng.</a:t>
            </a:r>
          </a:p>
        </p:txBody>
      </p:sp>
      <p:sp>
        <p:nvSpPr>
          <p:cNvPr id="26" name="TextBox 25"/>
          <p:cNvSpPr txBox="1"/>
          <p:nvPr/>
        </p:nvSpPr>
        <p:spPr>
          <a:xfrm>
            <a:off x="6309360" y="5166360"/>
            <a:ext cx="4663440" cy="457200"/>
          </a:xfrm>
          <a:prstGeom prst="rect">
            <a:avLst/>
          </a:prstGeom>
          <a:noFill/>
        </p:spPr>
        <p:txBody>
          <a:bodyPr wrap="square" lIns="73152" rIns="73152" tIns="73152" bIns="73152" anchor="t">
            <a:spAutoFit/>
          </a:bodyPr>
          <a:lstStyle/>
          <a:p>
            <a:pPr algn="l">
              <a:spcAft>
                <a:spcPts val="400"/>
              </a:spcAft>
            </a:pPr>
            <a:r>
              <a:rPr sz="1500" b="1">
                <a:solidFill>
                  <a:srgbClr val="185782"/>
                </a:solidFill>
                <a:latin typeface="Aptos"/>
              </a:rPr>
              <a:t>Pin mặt trời tạo ra điện từ ánh sáng.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F38"/>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4. Năng lượng gió</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Biến sức gió thành điện năng</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05</a:t>
            </a:r>
          </a:p>
        </p:txBody>
      </p:sp>
      <p:cxnSp>
        <p:nvCxnSpPr>
          <p:cNvPr id="6" name="Connector 5"/>
          <p:cNvCxnSpPr/>
          <p:nvPr/>
        </p:nvCxnSpPr>
        <p:spPr>
          <a:xfrm flipV="1">
            <a:off x="1828800" y="2562606"/>
            <a:ext cx="0" cy="278663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828800" y="1616201"/>
            <a:ext cx="0" cy="946405"/>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828800" y="2562606"/>
            <a:ext cx="819609" cy="473201"/>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009190" y="2562606"/>
            <a:ext cx="819610" cy="473201"/>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657600" y="3362248"/>
            <a:ext cx="0" cy="1986992"/>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657600" y="2687421"/>
            <a:ext cx="0" cy="674827"/>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657600" y="3362248"/>
            <a:ext cx="584417" cy="337414"/>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073182" y="3362248"/>
            <a:ext cx="584418" cy="337414"/>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029200" y="3846880"/>
            <a:ext cx="0" cy="150236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029200" y="3336645"/>
            <a:ext cx="0" cy="510235"/>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29200" y="3846880"/>
            <a:ext cx="441876" cy="255118"/>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587323" y="3846880"/>
            <a:ext cx="441877" cy="255118"/>
          </a:xfrm>
          <a:prstGeom prst="line">
            <a:avLst/>
          </a:prstGeom>
          <a:ln w="38100">
            <a:solidFill>
              <a:srgbClr val="26B4A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0" y="2011680"/>
            <a:ext cx="1920240" cy="365760"/>
          </a:xfrm>
          <a:prstGeom prst="rect">
            <a:avLst/>
          </a:prstGeom>
          <a:noFill/>
        </p:spPr>
        <p:txBody>
          <a:bodyPr wrap="square" lIns="73152" rIns="73152" tIns="73152" bIns="73152" anchor="t">
            <a:spAutoFit/>
          </a:bodyPr>
          <a:lstStyle/>
          <a:p>
            <a:pPr algn="l">
              <a:spcAft>
                <a:spcPts val="400"/>
              </a:spcAft>
            </a:pPr>
            <a:r>
              <a:rPr sz="2000" b="1">
                <a:solidFill>
                  <a:srgbClr val="26B4A4"/>
                </a:solidFill>
                <a:latin typeface="Aptos"/>
              </a:rPr>
              <a:t>Ưu điểm</a:t>
            </a:r>
          </a:p>
        </p:txBody>
      </p:sp>
      <p:sp>
        <p:nvSpPr>
          <p:cNvPr id="19" name="Oval 18"/>
          <p:cNvSpPr/>
          <p:nvPr/>
        </p:nvSpPr>
        <p:spPr>
          <a:xfrm>
            <a:off x="6400800" y="26334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2514600"/>
            <a:ext cx="4526280" cy="530352"/>
          </a:xfrm>
          <a:prstGeom prst="rect">
            <a:avLst/>
          </a:prstGeom>
          <a:noFill/>
        </p:spPr>
        <p:txBody>
          <a:bodyPr wrap="square" lIns="73152" rIns="73152" tIns="73152" bIns="73152" anchor="t">
            <a:spAutoFit/>
          </a:bodyPr>
          <a:lstStyle/>
          <a:p>
            <a:pPr algn="l">
              <a:spcAft>
                <a:spcPts val="400"/>
              </a:spcAft>
            </a:pPr>
            <a:r>
              <a:rPr sz="1700" b="0">
                <a:solidFill>
                  <a:srgbClr val="FFFFFF"/>
                </a:solidFill>
                <a:latin typeface="Aptos"/>
              </a:rPr>
              <a:t>Không cần đốt nhiên liệu khi phát điện.</a:t>
            </a:r>
          </a:p>
        </p:txBody>
      </p:sp>
      <p:sp>
        <p:nvSpPr>
          <p:cNvPr id="21" name="Oval 20"/>
          <p:cNvSpPr/>
          <p:nvPr/>
        </p:nvSpPr>
        <p:spPr>
          <a:xfrm>
            <a:off x="6400800" y="341071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3291840"/>
            <a:ext cx="4526280" cy="530352"/>
          </a:xfrm>
          <a:prstGeom prst="rect">
            <a:avLst/>
          </a:prstGeom>
          <a:noFill/>
        </p:spPr>
        <p:txBody>
          <a:bodyPr wrap="square" lIns="73152" rIns="73152" tIns="73152" bIns="73152" anchor="t">
            <a:spAutoFit/>
          </a:bodyPr>
          <a:lstStyle/>
          <a:p>
            <a:pPr algn="l">
              <a:spcAft>
                <a:spcPts val="400"/>
              </a:spcAft>
            </a:pPr>
            <a:r>
              <a:rPr sz="1700" b="0">
                <a:solidFill>
                  <a:srgbClr val="FFFFFF"/>
                </a:solidFill>
                <a:latin typeface="Aptos"/>
              </a:rPr>
              <a:t>Có thể xây dựng trên bờ hoặc ngoài khơi.</a:t>
            </a:r>
          </a:p>
        </p:txBody>
      </p:sp>
      <p:sp>
        <p:nvSpPr>
          <p:cNvPr id="23" name="TextBox 22"/>
          <p:cNvSpPr txBox="1"/>
          <p:nvPr/>
        </p:nvSpPr>
        <p:spPr>
          <a:xfrm>
            <a:off x="6400800" y="4160520"/>
            <a:ext cx="1920240" cy="365760"/>
          </a:xfrm>
          <a:prstGeom prst="rect">
            <a:avLst/>
          </a:prstGeom>
          <a:noFill/>
        </p:spPr>
        <p:txBody>
          <a:bodyPr wrap="square" lIns="73152" rIns="73152" tIns="73152" bIns="73152" anchor="t">
            <a:spAutoFit/>
          </a:bodyPr>
          <a:lstStyle/>
          <a:p>
            <a:pPr algn="l">
              <a:spcAft>
                <a:spcPts val="400"/>
              </a:spcAft>
            </a:pPr>
            <a:r>
              <a:rPr sz="2000" b="1">
                <a:solidFill>
                  <a:srgbClr val="FFC54A"/>
                </a:solidFill>
                <a:latin typeface="Aptos"/>
              </a:rPr>
              <a:t>Thách thức</a:t>
            </a:r>
          </a:p>
        </p:txBody>
      </p:sp>
      <p:sp>
        <p:nvSpPr>
          <p:cNvPr id="24" name="Oval 23"/>
          <p:cNvSpPr/>
          <p:nvPr/>
        </p:nvSpPr>
        <p:spPr>
          <a:xfrm>
            <a:off x="6400800" y="4782312"/>
            <a:ext cx="109728" cy="109728"/>
          </a:xfrm>
          <a:prstGeom prst="ellipse">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4663440"/>
            <a:ext cx="4617720" cy="530352"/>
          </a:xfrm>
          <a:prstGeom prst="rect">
            <a:avLst/>
          </a:prstGeom>
          <a:noFill/>
        </p:spPr>
        <p:txBody>
          <a:bodyPr wrap="square" lIns="73152" rIns="73152" tIns="73152" bIns="73152" anchor="t">
            <a:spAutoFit/>
          </a:bodyPr>
          <a:lstStyle/>
          <a:p>
            <a:pPr algn="l">
              <a:spcAft>
                <a:spcPts val="400"/>
              </a:spcAft>
            </a:pPr>
            <a:r>
              <a:rPr sz="1700" b="0">
                <a:solidFill>
                  <a:srgbClr val="FFFFFF"/>
                </a:solidFill>
                <a:latin typeface="Aptos"/>
              </a:rPr>
              <a:t>Công suất thay đổi theo tốc độ gió; cần chọn vị trí phù hợp.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5. Thủy điện và các nguồn khác</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Mỗi nguồn có thế mạnh và giới hạn riêng</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06</a:t>
            </a:r>
          </a:p>
        </p:txBody>
      </p:sp>
      <p:sp>
        <p:nvSpPr>
          <p:cNvPr id="6" name="Rounded Rectangle 5"/>
          <p:cNvSpPr/>
          <p:nvPr/>
        </p:nvSpPr>
        <p:spPr>
          <a:xfrm>
            <a:off x="731520" y="1874519"/>
            <a:ext cx="3520440" cy="3154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74519"/>
            <a:ext cx="82296" cy="3154680"/>
          </a:xfrm>
          <a:prstGeom prst="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020824"/>
            <a:ext cx="315468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Thủy điện</a:t>
            </a:r>
          </a:p>
        </p:txBody>
      </p:sp>
      <p:sp>
        <p:nvSpPr>
          <p:cNvPr id="9" name="TextBox 8"/>
          <p:cNvSpPr txBox="1"/>
          <p:nvPr/>
        </p:nvSpPr>
        <p:spPr>
          <a:xfrm>
            <a:off x="932688" y="2487168"/>
            <a:ext cx="3154680" cy="244144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 Dùng dòng nước để quay tua-bin.
• Có thể cung cấp lượng điện lớn.
• Đập và hồ chứa có thể ảnh hưởng đến sông, sinh cảnh và cộng đồng.</a:t>
            </a:r>
          </a:p>
        </p:txBody>
      </p:sp>
      <p:sp>
        <p:nvSpPr>
          <p:cNvPr id="10" name="Rounded Rectangle 9"/>
          <p:cNvSpPr/>
          <p:nvPr/>
        </p:nvSpPr>
        <p:spPr>
          <a:xfrm>
            <a:off x="4343400" y="1874519"/>
            <a:ext cx="3520440" cy="3154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74519"/>
            <a:ext cx="82296" cy="3154680"/>
          </a:xfrm>
          <a:prstGeom prst="rect">
            <a:avLst/>
          </a:prstGeom>
          <a:solidFill>
            <a:srgbClr val="66B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20824"/>
            <a:ext cx="315468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Sinh khối</a:t>
            </a:r>
          </a:p>
        </p:txBody>
      </p:sp>
      <p:sp>
        <p:nvSpPr>
          <p:cNvPr id="13" name="TextBox 12"/>
          <p:cNvSpPr txBox="1"/>
          <p:nvPr/>
        </p:nvSpPr>
        <p:spPr>
          <a:xfrm>
            <a:off x="4544568" y="2487168"/>
            <a:ext cx="3154680" cy="244144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 Dùng gỗ vụn, phụ phẩm nông nghiệp hoặc chất hữu cơ.
• Có thể tận dụng chất thải.
• Cần nguồn nguyên liệu được quản lý bền vững.</a:t>
            </a:r>
          </a:p>
        </p:txBody>
      </p:sp>
      <p:sp>
        <p:nvSpPr>
          <p:cNvPr id="14" name="Rounded Rectangle 13"/>
          <p:cNvSpPr/>
          <p:nvPr/>
        </p:nvSpPr>
        <p:spPr>
          <a:xfrm>
            <a:off x="7955279" y="1874519"/>
            <a:ext cx="3520440" cy="3154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1874519"/>
            <a:ext cx="82296" cy="3154680"/>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2020824"/>
            <a:ext cx="315468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Địa nhiệt</a:t>
            </a:r>
          </a:p>
        </p:txBody>
      </p:sp>
      <p:sp>
        <p:nvSpPr>
          <p:cNvPr id="17" name="TextBox 16"/>
          <p:cNvSpPr txBox="1"/>
          <p:nvPr/>
        </p:nvSpPr>
        <p:spPr>
          <a:xfrm>
            <a:off x="8156448" y="2487168"/>
            <a:ext cx="3154680" cy="244144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 Khai thác nhiệt bên trong Trái Đất.
• Có thể phát điện hoặc sưởi ấm.
• Phù hợp hơn ở những khu vực có điều kiện địa chất thuận lợi.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F38"/>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6. Lợi ích của năng lượng tái tạo</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Vì môi trường và an ninh năng lượng</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07</a:t>
            </a:r>
          </a:p>
        </p:txBody>
      </p:sp>
      <p:sp>
        <p:nvSpPr>
          <p:cNvPr id="6" name="Rounded Rectangle 5"/>
          <p:cNvSpPr/>
          <p:nvPr/>
        </p:nvSpPr>
        <p:spPr>
          <a:xfrm>
            <a:off x="777240" y="1828800"/>
            <a:ext cx="5257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82296" cy="1417320"/>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97510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Giảm phát thải</a:t>
            </a:r>
          </a:p>
        </p:txBody>
      </p:sp>
      <p:sp>
        <p:nvSpPr>
          <p:cNvPr id="9" name="TextBox 8"/>
          <p:cNvSpPr txBox="1"/>
          <p:nvPr/>
        </p:nvSpPr>
        <p:spPr>
          <a:xfrm>
            <a:off x="978408" y="2441448"/>
            <a:ext cx="4892040" cy="70408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Có thể giảm khí nhà kính so với đốt nhiên liệu hóa thạch.</a:t>
            </a:r>
          </a:p>
        </p:txBody>
      </p:sp>
      <p:sp>
        <p:nvSpPr>
          <p:cNvPr id="10" name="Rounded Rectangle 9"/>
          <p:cNvSpPr/>
          <p:nvPr/>
        </p:nvSpPr>
        <p:spPr>
          <a:xfrm>
            <a:off x="6400800" y="1828800"/>
            <a:ext cx="5257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828800"/>
            <a:ext cx="82296" cy="1417320"/>
          </a:xfrm>
          <a:prstGeom prst="rect">
            <a:avLst/>
          </a:prstGeom>
          <a:solidFill>
            <a:srgbClr val="66B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197510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Không khí sạch hơn</a:t>
            </a:r>
          </a:p>
        </p:txBody>
      </p:sp>
      <p:sp>
        <p:nvSpPr>
          <p:cNvPr id="13" name="TextBox 12"/>
          <p:cNvSpPr txBox="1"/>
          <p:nvPr/>
        </p:nvSpPr>
        <p:spPr>
          <a:xfrm>
            <a:off x="6601968" y="2441448"/>
            <a:ext cx="4892040" cy="70408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Giảm ô nhiễm không khí trong quá trình phát điện.</a:t>
            </a:r>
          </a:p>
        </p:txBody>
      </p:sp>
      <p:sp>
        <p:nvSpPr>
          <p:cNvPr id="14" name="Rounded Rectangle 13"/>
          <p:cNvSpPr/>
          <p:nvPr/>
        </p:nvSpPr>
        <p:spPr>
          <a:xfrm>
            <a:off x="777240" y="3657600"/>
            <a:ext cx="5257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57600"/>
            <a:ext cx="82296" cy="1417320"/>
          </a:xfrm>
          <a:prstGeom prst="rect">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80390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Nguồn cung đa dạng</a:t>
            </a:r>
          </a:p>
        </p:txBody>
      </p:sp>
      <p:sp>
        <p:nvSpPr>
          <p:cNvPr id="17" name="TextBox 16"/>
          <p:cNvSpPr txBox="1"/>
          <p:nvPr/>
        </p:nvSpPr>
        <p:spPr>
          <a:xfrm>
            <a:off x="978408" y="4270248"/>
            <a:ext cx="4892040" cy="70408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Giảm phụ thuộc vào một loại nhiên liệu.</a:t>
            </a:r>
          </a:p>
        </p:txBody>
      </p:sp>
      <p:sp>
        <p:nvSpPr>
          <p:cNvPr id="18" name="Rounded Rectangle 17"/>
          <p:cNvSpPr/>
          <p:nvPr/>
        </p:nvSpPr>
        <p:spPr>
          <a:xfrm>
            <a:off x="6400800" y="3657600"/>
            <a:ext cx="52578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657600"/>
            <a:ext cx="82296" cy="1417320"/>
          </a:xfrm>
          <a:prstGeom prst="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380390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Cơ hội việc làm</a:t>
            </a:r>
          </a:p>
        </p:txBody>
      </p:sp>
      <p:sp>
        <p:nvSpPr>
          <p:cNvPr id="21" name="TextBox 20"/>
          <p:cNvSpPr txBox="1"/>
          <p:nvPr/>
        </p:nvSpPr>
        <p:spPr>
          <a:xfrm>
            <a:off x="6601968" y="4270248"/>
            <a:ext cx="4892040" cy="70408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Tạo việc làm trong sản xuất, lắp đặt và bảo trì.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7. Khó khăn và thách thức</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Cần quy hoạch và công nghệ phù hợp</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08</a:t>
            </a:r>
          </a:p>
        </p:txBody>
      </p:sp>
      <p:sp>
        <p:nvSpPr>
          <p:cNvPr id="6" name="Oval 5"/>
          <p:cNvSpPr/>
          <p:nvPr/>
        </p:nvSpPr>
        <p:spPr>
          <a:xfrm>
            <a:off x="868680" y="19476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10287000" cy="640080"/>
          </a:xfrm>
          <a:prstGeom prst="rect">
            <a:avLst/>
          </a:prstGeom>
          <a:noFill/>
        </p:spPr>
        <p:txBody>
          <a:bodyPr wrap="square" lIns="73152" rIns="73152" tIns="73152" bIns="73152" anchor="t">
            <a:spAutoFit/>
          </a:bodyPr>
          <a:lstStyle/>
          <a:p>
            <a:pPr algn="l">
              <a:spcAft>
                <a:spcPts val="400"/>
              </a:spcAft>
            </a:pPr>
            <a:r>
              <a:rPr sz="1900" b="0">
                <a:solidFill>
                  <a:srgbClr val="1F303E"/>
                </a:solidFill>
                <a:latin typeface="Aptos"/>
              </a:rPr>
              <a:t>Điện mặt trời và điện gió phụ thuộc vào điều kiện thời tiết.</a:t>
            </a:r>
          </a:p>
        </p:txBody>
      </p:sp>
      <p:sp>
        <p:nvSpPr>
          <p:cNvPr id="8" name="Oval 7"/>
          <p:cNvSpPr/>
          <p:nvPr/>
        </p:nvSpPr>
        <p:spPr>
          <a:xfrm>
            <a:off x="868680" y="28620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743200"/>
            <a:ext cx="10287000" cy="640080"/>
          </a:xfrm>
          <a:prstGeom prst="rect">
            <a:avLst/>
          </a:prstGeom>
          <a:noFill/>
        </p:spPr>
        <p:txBody>
          <a:bodyPr wrap="square" lIns="73152" rIns="73152" tIns="73152" bIns="73152" anchor="t">
            <a:spAutoFit/>
          </a:bodyPr>
          <a:lstStyle/>
          <a:p>
            <a:pPr algn="l">
              <a:spcAft>
                <a:spcPts val="400"/>
              </a:spcAft>
            </a:pPr>
            <a:r>
              <a:rPr sz="1900" b="0">
                <a:solidFill>
                  <a:srgbClr val="1F303E"/>
                </a:solidFill>
                <a:latin typeface="Aptos"/>
              </a:rPr>
              <a:t>Lưu trữ điện và nâng cấp lưới điện có thể tốn kém.</a:t>
            </a:r>
          </a:p>
        </p:txBody>
      </p:sp>
      <p:sp>
        <p:nvSpPr>
          <p:cNvPr id="10" name="Oval 9"/>
          <p:cNvSpPr/>
          <p:nvPr/>
        </p:nvSpPr>
        <p:spPr>
          <a:xfrm>
            <a:off x="868680" y="37764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657600"/>
            <a:ext cx="10287000" cy="640080"/>
          </a:xfrm>
          <a:prstGeom prst="rect">
            <a:avLst/>
          </a:prstGeom>
          <a:noFill/>
        </p:spPr>
        <p:txBody>
          <a:bodyPr wrap="square" lIns="73152" rIns="73152" tIns="73152" bIns="73152" anchor="t">
            <a:spAutoFit/>
          </a:bodyPr>
          <a:lstStyle/>
          <a:p>
            <a:pPr algn="l">
              <a:spcAft>
                <a:spcPts val="400"/>
              </a:spcAft>
            </a:pPr>
            <a:r>
              <a:rPr sz="1900" b="0">
                <a:solidFill>
                  <a:srgbClr val="1F303E"/>
                </a:solidFill>
                <a:latin typeface="Aptos"/>
              </a:rPr>
              <a:t>Một số dự án cần diện tích lớn hoặc có thể tác động đến thiên nhiên.</a:t>
            </a:r>
          </a:p>
        </p:txBody>
      </p:sp>
      <p:sp>
        <p:nvSpPr>
          <p:cNvPr id="12" name="Oval 11"/>
          <p:cNvSpPr/>
          <p:nvPr/>
        </p:nvSpPr>
        <p:spPr>
          <a:xfrm>
            <a:off x="868680" y="46908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572000"/>
            <a:ext cx="10287000" cy="640080"/>
          </a:xfrm>
          <a:prstGeom prst="rect">
            <a:avLst/>
          </a:prstGeom>
          <a:noFill/>
        </p:spPr>
        <p:txBody>
          <a:bodyPr wrap="square" lIns="73152" rIns="73152" tIns="73152" bIns="73152" anchor="t">
            <a:spAutoFit/>
          </a:bodyPr>
          <a:lstStyle/>
          <a:p>
            <a:pPr algn="l">
              <a:spcAft>
                <a:spcPts val="400"/>
              </a:spcAft>
            </a:pPr>
            <a:r>
              <a:rPr sz="1900" b="0">
                <a:solidFill>
                  <a:srgbClr val="1F303E"/>
                </a:solidFill>
                <a:latin typeface="Aptos"/>
              </a:rPr>
              <a:t>Việc sản xuất, vận chuyển và xử lý thiết bị cũng cần được quản lý.</a:t>
            </a:r>
          </a:p>
        </p:txBody>
      </p:sp>
      <p:sp>
        <p:nvSpPr>
          <p:cNvPr id="14" name="Rounded Rectangle 13"/>
          <p:cNvSpPr/>
          <p:nvPr/>
        </p:nvSpPr>
        <p:spPr>
          <a:xfrm>
            <a:off x="868680" y="5577840"/>
            <a:ext cx="10332720" cy="502920"/>
          </a:xfrm>
          <a:prstGeom prst="roundRect">
            <a:avLst/>
          </a:prstGeom>
          <a:solidFill>
            <a:srgbClr val="E5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687568"/>
            <a:ext cx="10058400" cy="256032"/>
          </a:xfrm>
          <a:prstGeom prst="rect">
            <a:avLst/>
          </a:prstGeom>
          <a:noFill/>
        </p:spPr>
        <p:txBody>
          <a:bodyPr wrap="square" lIns="73152" rIns="73152" tIns="73152" bIns="73152" anchor="t">
            <a:spAutoFit/>
          </a:bodyPr>
          <a:lstStyle/>
          <a:p>
            <a:pPr algn="ctr">
              <a:spcAft>
                <a:spcPts val="400"/>
              </a:spcAft>
            </a:pPr>
            <a:r>
              <a:rPr sz="1400" b="1">
                <a:solidFill>
                  <a:srgbClr val="185782"/>
                </a:solidFill>
                <a:latin typeface="Aptos"/>
              </a:rPr>
              <a:t>Giải pháp: quy hoạch tốt • lưu trữ điện • tái chế thiết bị • bảo vệ hệ sinh thái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9FA"/>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8. Năng lượng tái tạo ở Việt Nam</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Tiềm năng lớn, cần phát triển bền vững</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09</a:t>
            </a:r>
          </a:p>
        </p:txBody>
      </p:sp>
      <p:sp>
        <p:nvSpPr>
          <p:cNvPr id="6" name="Rounded Rectangle 5"/>
          <p:cNvSpPr/>
          <p:nvPr/>
        </p:nvSpPr>
        <p:spPr>
          <a:xfrm>
            <a:off x="777240" y="1828800"/>
            <a:ext cx="4800600" cy="3520440"/>
          </a:xfrm>
          <a:prstGeom prst="round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34440" y="2240280"/>
            <a:ext cx="685800" cy="685800"/>
          </a:xfrm>
          <a:prstGeom prst="ellipse">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005840" y="3886200"/>
            <a:ext cx="4206240" cy="0"/>
          </a:xfrm>
          <a:prstGeom prst="line">
            <a:avLst/>
          </a:prstGeom>
          <a:ln w="254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05840" y="4297680"/>
            <a:ext cx="4206240" cy="0"/>
          </a:xfrm>
          <a:prstGeom prst="line">
            <a:avLst/>
          </a:prstGeom>
          <a:ln w="254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5840" y="4709160"/>
            <a:ext cx="4206240" cy="0"/>
          </a:xfrm>
          <a:prstGeom prst="line">
            <a:avLst/>
          </a:prstGeom>
          <a:ln w="25400">
            <a:solidFill>
              <a:srgbClr val="26B4A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14800" y="2834640"/>
            <a:ext cx="0" cy="155448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114800" y="2834640"/>
            <a:ext cx="50292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863339" y="2834640"/>
            <a:ext cx="251461" cy="435541"/>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863339" y="2399098"/>
            <a:ext cx="251461" cy="435542"/>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34440" y="4800600"/>
            <a:ext cx="4023360" cy="365760"/>
          </a:xfrm>
          <a:prstGeom prst="rect">
            <a:avLst/>
          </a:prstGeom>
          <a:noFill/>
        </p:spPr>
        <p:txBody>
          <a:bodyPr wrap="square" lIns="73152" rIns="73152" tIns="73152" bIns="73152" anchor="t">
            <a:spAutoFit/>
          </a:bodyPr>
          <a:lstStyle/>
          <a:p>
            <a:pPr algn="ctr">
              <a:spcAft>
                <a:spcPts val="400"/>
              </a:spcAft>
            </a:pPr>
            <a:r>
              <a:rPr sz="1500" b="1">
                <a:solidFill>
                  <a:srgbClr val="FFFFFF"/>
                </a:solidFill>
                <a:latin typeface="Aptos"/>
              </a:rPr>
              <a:t>Mặt trời  •  Gió  •  Nước</a:t>
            </a:r>
          </a:p>
        </p:txBody>
      </p:sp>
      <p:sp>
        <p:nvSpPr>
          <p:cNvPr id="16" name="Oval 15"/>
          <p:cNvSpPr/>
          <p:nvPr/>
        </p:nvSpPr>
        <p:spPr>
          <a:xfrm>
            <a:off x="6080760" y="203911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920240"/>
            <a:ext cx="4892040" cy="822960"/>
          </a:xfrm>
          <a:prstGeom prst="rect">
            <a:avLst/>
          </a:prstGeom>
          <a:noFill/>
        </p:spPr>
        <p:txBody>
          <a:bodyPr wrap="square" lIns="73152" rIns="73152" tIns="73152" bIns="73152" anchor="t">
            <a:spAutoFit/>
          </a:bodyPr>
          <a:lstStyle/>
          <a:p>
            <a:pPr algn="l">
              <a:spcAft>
                <a:spcPts val="400"/>
              </a:spcAft>
            </a:pPr>
            <a:r>
              <a:rPr sz="1700" b="0">
                <a:solidFill>
                  <a:srgbClr val="1F303E"/>
                </a:solidFill>
                <a:latin typeface="Aptos"/>
              </a:rPr>
              <a:t>Việt Nam có điều kiện thuận lợi cho điện mặt trời và điện gió ở nhiều khu vực.</a:t>
            </a:r>
          </a:p>
        </p:txBody>
      </p:sp>
      <p:sp>
        <p:nvSpPr>
          <p:cNvPr id="18" name="Oval 17"/>
          <p:cNvSpPr/>
          <p:nvPr/>
        </p:nvSpPr>
        <p:spPr>
          <a:xfrm>
            <a:off x="6080760" y="3364991"/>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3246120"/>
            <a:ext cx="4892040" cy="822960"/>
          </a:xfrm>
          <a:prstGeom prst="rect">
            <a:avLst/>
          </a:prstGeom>
          <a:noFill/>
        </p:spPr>
        <p:txBody>
          <a:bodyPr wrap="square" lIns="73152" rIns="73152" tIns="73152" bIns="73152" anchor="t">
            <a:spAutoFit/>
          </a:bodyPr>
          <a:lstStyle/>
          <a:p>
            <a:pPr algn="l">
              <a:spcAft>
                <a:spcPts val="400"/>
              </a:spcAft>
            </a:pPr>
            <a:r>
              <a:rPr sz="1700" b="0">
                <a:solidFill>
                  <a:srgbClr val="1F303E"/>
                </a:solidFill>
                <a:latin typeface="Aptos"/>
              </a:rPr>
              <a:t>Các dự án cần đi kèm lưới điện, lưu trữ và quy hoạch phù hợp.</a:t>
            </a:r>
          </a:p>
        </p:txBody>
      </p:sp>
      <p:sp>
        <p:nvSpPr>
          <p:cNvPr id="20" name="Oval 19"/>
          <p:cNvSpPr/>
          <p:nvPr/>
        </p:nvSpPr>
        <p:spPr>
          <a:xfrm>
            <a:off x="6080760" y="4690872"/>
            <a:ext cx="109728" cy="109728"/>
          </a:xfrm>
          <a:prstGeom prst="ellipse">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572000"/>
            <a:ext cx="4892040" cy="822960"/>
          </a:xfrm>
          <a:prstGeom prst="rect">
            <a:avLst/>
          </a:prstGeom>
          <a:noFill/>
        </p:spPr>
        <p:txBody>
          <a:bodyPr wrap="square" lIns="73152" rIns="73152" tIns="73152" bIns="73152" anchor="t">
            <a:spAutoFit/>
          </a:bodyPr>
          <a:lstStyle/>
          <a:p>
            <a:pPr algn="l">
              <a:spcAft>
                <a:spcPts val="400"/>
              </a:spcAft>
            </a:pPr>
            <a:r>
              <a:rPr sz="1700" b="0">
                <a:solidFill>
                  <a:srgbClr val="1F303E"/>
                </a:solidFill>
                <a:latin typeface="Aptos"/>
              </a:rPr>
              <a:t>Phát triển bền vững cần cân bằng lợi ích kinh tế, xã hội và môi trường.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F38"/>
        </a:solidFill>
        <a:effectLst/>
      </p:bgPr>
    </p:bg>
    <p:spTree>
      <p:nvGrpSpPr>
        <p:cNvPr id="1" name=""/>
        <p:cNvGrpSpPr/>
        <p:nvPr/>
      </p:nvGrpSpPr>
      <p:grpSpPr/>
      <p:sp>
        <p:nvSpPr>
          <p:cNvPr id="2" name="TextBox 1"/>
          <p:cNvSpPr txBox="1"/>
          <p:nvPr/>
        </p:nvSpPr>
        <p:spPr>
          <a:xfrm>
            <a:off x="640080" y="411480"/>
            <a:ext cx="10881360" cy="566928"/>
          </a:xfrm>
          <a:prstGeom prst="rect">
            <a:avLst/>
          </a:prstGeom>
          <a:noFill/>
        </p:spPr>
        <p:txBody>
          <a:bodyPr wrap="square" lIns="73152" rIns="73152" tIns="73152" bIns="73152" anchor="t">
            <a:spAutoFit/>
          </a:bodyPr>
          <a:lstStyle/>
          <a:p>
            <a:pPr algn="l">
              <a:spcAft>
                <a:spcPts val="400"/>
              </a:spcAft>
            </a:pPr>
            <a:r>
              <a:rPr sz="2800" b="1">
                <a:solidFill>
                  <a:srgbClr val="FFFFFF"/>
                </a:solidFill>
                <a:latin typeface="Aptos"/>
              </a:rPr>
              <a:t>9. Chúng ta có thể làm gì?</a:t>
            </a:r>
          </a:p>
        </p:txBody>
      </p:sp>
      <p:sp>
        <p:nvSpPr>
          <p:cNvPr id="3" name="Rectangle 2"/>
          <p:cNvSpPr/>
          <p:nvPr/>
        </p:nvSpPr>
        <p:spPr>
          <a:xfrm>
            <a:off x="658368" y="1078992"/>
            <a:ext cx="960120" cy="54864"/>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234440"/>
            <a:ext cx="10698480" cy="384048"/>
          </a:xfrm>
          <a:prstGeom prst="rect">
            <a:avLst/>
          </a:prstGeom>
          <a:noFill/>
        </p:spPr>
        <p:txBody>
          <a:bodyPr wrap="square" lIns="73152" rIns="73152" tIns="73152" bIns="73152" anchor="t">
            <a:spAutoFit/>
          </a:bodyPr>
          <a:lstStyle/>
          <a:p>
            <a:pPr algn="l">
              <a:spcAft>
                <a:spcPts val="400"/>
              </a:spcAft>
            </a:pPr>
            <a:r>
              <a:rPr sz="1300" b="0">
                <a:solidFill>
                  <a:srgbClr val="BED6E1"/>
                </a:solidFill>
                <a:latin typeface="Aptos"/>
              </a:rPr>
              <a:t>Những hành động nhỏ tạo nên thay đổi</a:t>
            </a:r>
          </a:p>
        </p:txBody>
      </p:sp>
      <p:sp>
        <p:nvSpPr>
          <p:cNvPr id="5" name="TextBox 4"/>
          <p:cNvSpPr txBox="1"/>
          <p:nvPr/>
        </p:nvSpPr>
        <p:spPr>
          <a:xfrm>
            <a:off x="11064240" y="6327648"/>
            <a:ext cx="457200" cy="228600"/>
          </a:xfrm>
          <a:prstGeom prst="rect">
            <a:avLst/>
          </a:prstGeom>
          <a:noFill/>
        </p:spPr>
        <p:txBody>
          <a:bodyPr wrap="square" lIns="73152" rIns="73152" tIns="73152" bIns="73152" anchor="t">
            <a:spAutoFit/>
          </a:bodyPr>
          <a:lstStyle/>
          <a:p>
            <a:pPr algn="r">
              <a:spcAft>
                <a:spcPts val="400"/>
              </a:spcAft>
            </a:pPr>
            <a:r>
              <a:rPr sz="1000" b="1">
                <a:solidFill>
                  <a:srgbClr val="A0B8C4"/>
                </a:solidFill>
                <a:latin typeface="Aptos"/>
              </a:rPr>
              <a:t>10</a:t>
            </a:r>
          </a:p>
        </p:txBody>
      </p:sp>
      <p:sp>
        <p:nvSpPr>
          <p:cNvPr id="6" name="Rounded Rectangle 5"/>
          <p:cNvSpPr/>
          <p:nvPr/>
        </p:nvSpPr>
        <p:spPr>
          <a:xfrm>
            <a:off x="777240" y="1828800"/>
            <a:ext cx="52578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82296" cy="1143000"/>
          </a:xfrm>
          <a:prstGeom prst="rect">
            <a:avLst/>
          </a:prstGeom>
          <a:solidFill>
            <a:srgbClr val="FFC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97510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Tiết kiệm điện</a:t>
            </a:r>
          </a:p>
        </p:txBody>
      </p:sp>
      <p:sp>
        <p:nvSpPr>
          <p:cNvPr id="9" name="TextBox 8"/>
          <p:cNvSpPr txBox="1"/>
          <p:nvPr/>
        </p:nvSpPr>
        <p:spPr>
          <a:xfrm>
            <a:off x="978408" y="2441448"/>
            <a:ext cx="4892040" cy="42976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Tắt đèn, quạt và thiết bị khi không sử dụng.</a:t>
            </a:r>
          </a:p>
        </p:txBody>
      </p:sp>
      <p:sp>
        <p:nvSpPr>
          <p:cNvPr id="10" name="Rounded Rectangle 9"/>
          <p:cNvSpPr/>
          <p:nvPr/>
        </p:nvSpPr>
        <p:spPr>
          <a:xfrm>
            <a:off x="6400800" y="1828800"/>
            <a:ext cx="52578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828800"/>
            <a:ext cx="82296" cy="1143000"/>
          </a:xfrm>
          <a:prstGeom prst="rect">
            <a:avLst/>
          </a:prstGeom>
          <a:solidFill>
            <a:srgbClr val="26B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197510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Tận dụng ánh sáng</a:t>
            </a:r>
          </a:p>
        </p:txBody>
      </p:sp>
      <p:sp>
        <p:nvSpPr>
          <p:cNvPr id="13" name="TextBox 12"/>
          <p:cNvSpPr txBox="1"/>
          <p:nvPr/>
        </p:nvSpPr>
        <p:spPr>
          <a:xfrm>
            <a:off x="6601968" y="2441448"/>
            <a:ext cx="4892040" cy="42976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Mở cửa ban ngày khi điều kiện phù hợp.</a:t>
            </a:r>
          </a:p>
        </p:txBody>
      </p:sp>
      <p:sp>
        <p:nvSpPr>
          <p:cNvPr id="14" name="Rounded Rectangle 13"/>
          <p:cNvSpPr/>
          <p:nvPr/>
        </p:nvSpPr>
        <p:spPr>
          <a:xfrm>
            <a:off x="777240" y="3246120"/>
            <a:ext cx="52578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46120"/>
            <a:ext cx="82296" cy="1143000"/>
          </a:xfrm>
          <a:prstGeom prst="rect">
            <a:avLst/>
          </a:prstGeom>
          <a:solidFill>
            <a:srgbClr val="66BE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9242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Tìm hiểu khoa học</a:t>
            </a:r>
          </a:p>
        </p:txBody>
      </p:sp>
      <p:sp>
        <p:nvSpPr>
          <p:cNvPr id="17" name="TextBox 16"/>
          <p:cNvSpPr txBox="1"/>
          <p:nvPr/>
        </p:nvSpPr>
        <p:spPr>
          <a:xfrm>
            <a:off x="978408" y="3858768"/>
            <a:ext cx="4892040" cy="42976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Chia sẻ kiến thức về năng lượng sạch.</a:t>
            </a:r>
          </a:p>
        </p:txBody>
      </p:sp>
      <p:sp>
        <p:nvSpPr>
          <p:cNvPr id="18" name="Rounded Rectangle 17"/>
          <p:cNvSpPr/>
          <p:nvPr/>
        </p:nvSpPr>
        <p:spPr>
          <a:xfrm>
            <a:off x="6400800" y="3246120"/>
            <a:ext cx="525780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246120"/>
            <a:ext cx="82296" cy="1143000"/>
          </a:xfrm>
          <a:prstGeom prst="rect">
            <a:avLst/>
          </a:prstGeom>
          <a:solidFill>
            <a:srgbClr val="185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3392424"/>
            <a:ext cx="4892040" cy="411480"/>
          </a:xfrm>
          <a:prstGeom prst="rect">
            <a:avLst/>
          </a:prstGeom>
          <a:noFill/>
        </p:spPr>
        <p:txBody>
          <a:bodyPr wrap="square" lIns="73152" rIns="73152" tIns="73152" bIns="73152" anchor="t">
            <a:spAutoFit/>
          </a:bodyPr>
          <a:lstStyle/>
          <a:p>
            <a:pPr algn="l">
              <a:spcAft>
                <a:spcPts val="400"/>
              </a:spcAft>
            </a:pPr>
            <a:r>
              <a:rPr sz="1800" b="1">
                <a:solidFill>
                  <a:srgbClr val="0C1F38"/>
                </a:solidFill>
                <a:latin typeface="Aptos"/>
              </a:rPr>
              <a:t>Ủng hộ lối sống xanh</a:t>
            </a:r>
          </a:p>
        </p:txBody>
      </p:sp>
      <p:sp>
        <p:nvSpPr>
          <p:cNvPr id="21" name="TextBox 20"/>
          <p:cNvSpPr txBox="1"/>
          <p:nvPr/>
        </p:nvSpPr>
        <p:spPr>
          <a:xfrm>
            <a:off x="6601968" y="3858768"/>
            <a:ext cx="4892040" cy="429768"/>
          </a:xfrm>
          <a:prstGeom prst="rect">
            <a:avLst/>
          </a:prstGeom>
          <a:noFill/>
        </p:spPr>
        <p:txBody>
          <a:bodyPr wrap="square" lIns="73152" rIns="73152" tIns="73152" bIns="73152" anchor="t">
            <a:spAutoFit/>
          </a:bodyPr>
          <a:lstStyle/>
          <a:p>
            <a:pPr algn="l">
              <a:spcAft>
                <a:spcPts val="400"/>
              </a:spcAft>
            </a:pPr>
            <a:r>
              <a:rPr sz="1300" b="0">
                <a:solidFill>
                  <a:srgbClr val="1F303E"/>
                </a:solidFill>
                <a:latin typeface="Aptos"/>
              </a:rPr>
              <a:t>Giảm lãng phí và tái sử dụng, tái chế.</a:t>
            </a:r>
          </a:p>
        </p:txBody>
      </p:sp>
      <p:sp>
        <p:nvSpPr>
          <p:cNvPr id="22" name="TextBox 21"/>
          <p:cNvSpPr txBox="1"/>
          <p:nvPr/>
        </p:nvSpPr>
        <p:spPr>
          <a:xfrm>
            <a:off x="868680" y="5074920"/>
            <a:ext cx="1828800" cy="411480"/>
          </a:xfrm>
          <a:prstGeom prst="rect">
            <a:avLst/>
          </a:prstGeom>
          <a:noFill/>
        </p:spPr>
        <p:txBody>
          <a:bodyPr wrap="square" lIns="73152" rIns="73152" tIns="73152" bIns="73152" anchor="t">
            <a:spAutoFit/>
          </a:bodyPr>
          <a:lstStyle/>
          <a:p>
            <a:pPr algn="l">
              <a:spcAft>
                <a:spcPts val="400"/>
              </a:spcAft>
            </a:pPr>
            <a:r>
              <a:rPr sz="1900" b="1">
                <a:solidFill>
                  <a:srgbClr val="FFC54A"/>
                </a:solidFill>
                <a:latin typeface="Aptos"/>
              </a:rPr>
              <a:t>KẾT LUẬN</a:t>
            </a:r>
          </a:p>
        </p:txBody>
      </p:sp>
      <p:sp>
        <p:nvSpPr>
          <p:cNvPr id="23" name="TextBox 22"/>
          <p:cNvSpPr txBox="1"/>
          <p:nvPr/>
        </p:nvSpPr>
        <p:spPr>
          <a:xfrm>
            <a:off x="868680" y="5486400"/>
            <a:ext cx="10332720" cy="685800"/>
          </a:xfrm>
          <a:prstGeom prst="rect">
            <a:avLst/>
          </a:prstGeom>
          <a:noFill/>
        </p:spPr>
        <p:txBody>
          <a:bodyPr wrap="square" lIns="73152" rIns="73152" tIns="73152" bIns="73152" anchor="t">
            <a:spAutoFit/>
          </a:bodyPr>
          <a:lstStyle/>
          <a:p>
            <a:pPr algn="l">
              <a:spcAft>
                <a:spcPts val="400"/>
              </a:spcAft>
            </a:pPr>
            <a:r>
              <a:rPr sz="1700" b="1">
                <a:solidFill>
                  <a:srgbClr val="FFFFFF"/>
                </a:solidFill>
                <a:latin typeface="Aptos"/>
              </a:rPr>
              <a:t>Năng lượng tái tạo là một phần quan trọng của tương lai ít phát thải. Sử dụng năng lượng hiệu quả và phát triển có trách nhiệm sẽ giúp bảo vệ hành tinh.</a:t>
            </a:r>
          </a:p>
        </p:txBody>
      </p:sp>
      <p:sp>
        <p:nvSpPr>
          <p:cNvPr id="24" name="TextBox 23"/>
          <p:cNvSpPr txBox="1"/>
          <p:nvPr/>
        </p:nvSpPr>
        <p:spPr>
          <a:xfrm>
            <a:off x="868680" y="6309360"/>
            <a:ext cx="10332720" cy="320040"/>
          </a:xfrm>
          <a:prstGeom prst="rect">
            <a:avLst/>
          </a:prstGeom>
          <a:noFill/>
        </p:spPr>
        <p:txBody>
          <a:bodyPr wrap="square" lIns="73152" rIns="73152" tIns="73152" bIns="73152" anchor="t">
            <a:spAutoFit/>
          </a:bodyPr>
          <a:lstStyle/>
          <a:p>
            <a:pPr algn="ctr">
              <a:spcAft>
                <a:spcPts val="400"/>
              </a:spcAft>
            </a:pPr>
            <a:r>
              <a:rPr sz="1300" b="1">
                <a:solidFill>
                  <a:srgbClr val="26B4A4"/>
                </a:solidFill>
                <a:latin typeface="Aptos"/>
              </a:rPr>
              <a:t>CẢM ƠN THẦY CÔ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